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7d396e7a948f2" /><Relationship Type="http://schemas.openxmlformats.org/officeDocument/2006/relationships/extended-properties" Target="/docProps/app.xml" Id="Rc9a328f4ec574aa3" /><Relationship Type="http://schemas.openxmlformats.org/officeDocument/2006/relationships/officeDocument" Target="/ppt/presentation.xml" Id="R5423b102229443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8ccc4e0c0432a"/>
  </p:sldMasterIdLst>
  <p:notesMasterIdLst>
    <p:notesMasterId xmlns:r="http://schemas.openxmlformats.org/officeDocument/2006/relationships" r:id="R922ed01344fa4a48"/>
  </p:notesMasterIdLst>
  <p:sldIdLst>
    <p:sldId xmlns:r="http://schemas.openxmlformats.org/officeDocument/2006/relationships" id="256" r:id="R6681680a771644f8"/>
    <p:sldId xmlns:r="http://schemas.openxmlformats.org/officeDocument/2006/relationships" id="257" r:id="R37a265746625422e"/>
    <p:sldId xmlns:r="http://schemas.openxmlformats.org/officeDocument/2006/relationships" id="258" r:id="Rf4ffcaf5918b4673"/>
    <p:sldId xmlns:r="http://schemas.openxmlformats.org/officeDocument/2006/relationships" id="259" r:id="R83c1af3525a24a2e"/>
    <p:sldId xmlns:r="http://schemas.openxmlformats.org/officeDocument/2006/relationships" id="260" r:id="R3fffd7ade078492b"/>
    <p:sldId xmlns:r="http://schemas.openxmlformats.org/officeDocument/2006/relationships" id="261" r:id="R70c06cc577c4449e"/>
    <p:sldId xmlns:r="http://schemas.openxmlformats.org/officeDocument/2006/relationships" id="262" r:id="Rc65cea237a8c49f7"/>
    <p:sldId xmlns:r="http://schemas.openxmlformats.org/officeDocument/2006/relationships" id="263" r:id="Rf6f0dfcb2fd3471c"/>
    <p:sldId xmlns:r="http://schemas.openxmlformats.org/officeDocument/2006/relationships" id="264" r:id="R1e073ebe40d44ee4"/>
    <p:sldId xmlns:r="http://schemas.openxmlformats.org/officeDocument/2006/relationships" id="265" r:id="Rf724821a0f404194"/>
    <p:sldId xmlns:r="http://schemas.openxmlformats.org/officeDocument/2006/relationships" id="266" r:id="Rc36607d28cee4e04"/>
    <p:sldId xmlns:r="http://schemas.openxmlformats.org/officeDocument/2006/relationships" id="267" r:id="R2c2221fb2c0b452c"/>
    <p:sldId xmlns:r="http://schemas.openxmlformats.org/officeDocument/2006/relationships" id="268" r:id="R25761990ec814cc1"/>
    <p:sldId xmlns:r="http://schemas.openxmlformats.org/officeDocument/2006/relationships" id="269" r:id="Red1f2f287f234b41"/>
    <p:sldId xmlns:r="http://schemas.openxmlformats.org/officeDocument/2006/relationships" id="270" r:id="R578e93d84b8b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9ecc929e4431b" /><Relationship Type="http://schemas.openxmlformats.org/officeDocument/2006/relationships/slideMaster" Target="/ppt/slideMasters/slideMaster1.xml" Id="R36e8ccc4e0c0432a" /><Relationship Type="http://schemas.openxmlformats.org/officeDocument/2006/relationships/notesMaster" Target="/ppt/notesMasters/notesMaster1.xml" Id="R922ed01344fa4a48" /><Relationship Type="http://schemas.openxmlformats.org/officeDocument/2006/relationships/presProps" Target="/ppt/presProps.xml" Id="R4329b8f699094a05" /><Relationship Type="http://schemas.openxmlformats.org/officeDocument/2006/relationships/tableStyles" Target="/ppt/tableStyles.xml" Id="R34bca3bfc9f0495f" /><Relationship Type="http://schemas.openxmlformats.org/officeDocument/2006/relationships/slide" Target="/ppt/slides/slide1.xml" Id="R6681680a771644f8" /><Relationship Type="http://schemas.openxmlformats.org/officeDocument/2006/relationships/slide" Target="/ppt/slides/slide2.xml" Id="R37a265746625422e" /><Relationship Type="http://schemas.openxmlformats.org/officeDocument/2006/relationships/slide" Target="/ppt/slides/slide3.xml" Id="Rf4ffcaf5918b4673" /><Relationship Type="http://schemas.openxmlformats.org/officeDocument/2006/relationships/slide" Target="/ppt/slides/slide4.xml" Id="R83c1af3525a24a2e" /><Relationship Type="http://schemas.openxmlformats.org/officeDocument/2006/relationships/slide" Target="/ppt/slides/slide5.xml" Id="R3fffd7ade078492b" /><Relationship Type="http://schemas.openxmlformats.org/officeDocument/2006/relationships/slide" Target="/ppt/slides/slide6.xml" Id="R70c06cc577c4449e" /><Relationship Type="http://schemas.openxmlformats.org/officeDocument/2006/relationships/slide" Target="/ppt/slides/slide7.xml" Id="Rc65cea237a8c49f7" /><Relationship Type="http://schemas.openxmlformats.org/officeDocument/2006/relationships/slide" Target="/ppt/slides/slide8.xml" Id="Rf6f0dfcb2fd3471c" /><Relationship Type="http://schemas.openxmlformats.org/officeDocument/2006/relationships/slide" Target="/ppt/slides/slide9.xml" Id="R1e073ebe40d44ee4" /><Relationship Type="http://schemas.openxmlformats.org/officeDocument/2006/relationships/slide" Target="/ppt/slides/slide10.xml" Id="Rf724821a0f404194" /><Relationship Type="http://schemas.openxmlformats.org/officeDocument/2006/relationships/slide" Target="/ppt/slides/slide11.xml" Id="Rc36607d28cee4e04" /><Relationship Type="http://schemas.openxmlformats.org/officeDocument/2006/relationships/slide" Target="/ppt/slides/slide12.xml" Id="R2c2221fb2c0b452c" /><Relationship Type="http://schemas.openxmlformats.org/officeDocument/2006/relationships/slide" Target="/ppt/slides/slide13.xml" Id="R25761990ec814cc1" /><Relationship Type="http://schemas.openxmlformats.org/officeDocument/2006/relationships/slide" Target="/ppt/slides/slide14.xml" Id="Red1f2f287f234b41" /><Relationship Type="http://schemas.openxmlformats.org/officeDocument/2006/relationships/slide" Target="/ppt/slides/slide15.xml" Id="R578e93d84b8b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6dfcb6fdf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3d895a66f74154" /><Relationship Type="http://schemas.openxmlformats.org/officeDocument/2006/relationships/notesMaster" Target="/ppt/notesMasters/notesMaster1.xml" Id="R906d14223bf244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f14d1cccef4ddc" /><Relationship Type="http://schemas.openxmlformats.org/officeDocument/2006/relationships/notesMaster" Target="/ppt/notesMasters/notesMaster1.xml" Id="R250c7a4f988b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ff32478dd4e6b" /><Relationship Type="http://schemas.openxmlformats.org/officeDocument/2006/relationships/notesMaster" Target="/ppt/notesMasters/notesMaster1.xml" Id="R64b8c2fda5d34e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9da960a9fa4a6b" /><Relationship Type="http://schemas.openxmlformats.org/officeDocument/2006/relationships/notesMaster" Target="/ppt/notesMasters/notesMaster1.xml" Id="R38e56c11219240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88cae3ab1b4054" /><Relationship Type="http://schemas.openxmlformats.org/officeDocument/2006/relationships/notesMaster" Target="/ppt/notesMasters/notesMaster1.xml" Id="R03f35a33f3a349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7bf4780954374" /><Relationship Type="http://schemas.openxmlformats.org/officeDocument/2006/relationships/notesMaster" Target="/ppt/notesMasters/notesMaster1.xml" Id="Rd1e7906fe38b4d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a7bc37a48f4f57" /><Relationship Type="http://schemas.openxmlformats.org/officeDocument/2006/relationships/notesMaster" Target="/ppt/notesMasters/notesMaster1.xml" Id="R70aee8e37ff445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a05c5a429e49f4" /><Relationship Type="http://schemas.openxmlformats.org/officeDocument/2006/relationships/notesMaster" Target="/ppt/notesMasters/notesMaster1.xml" Id="R7a3c3a9f733d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60e01c5f7146d5" /><Relationship Type="http://schemas.openxmlformats.org/officeDocument/2006/relationships/notesMaster" Target="/ppt/notesMasters/notesMaster1.xml" Id="Rb495731bf26e4c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44999d813f41c5" /><Relationship Type="http://schemas.openxmlformats.org/officeDocument/2006/relationships/notesMaster" Target="/ppt/notesMasters/notesMaster1.xml" Id="R06be32a175e345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7b65b6906d4737" /><Relationship Type="http://schemas.openxmlformats.org/officeDocument/2006/relationships/notesMaster" Target="/ppt/notesMasters/notesMaster1.xml" Id="R45b5e5ef79d241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8a3a93139b4386" /><Relationship Type="http://schemas.openxmlformats.org/officeDocument/2006/relationships/notesMaster" Target="/ppt/notesMasters/notesMaster1.xml" Id="Rfc74d1cdde7545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e4b711eb314ec6" /><Relationship Type="http://schemas.openxmlformats.org/officeDocument/2006/relationships/notesMaster" Target="/ppt/notesMasters/notesMaster1.xml" Id="Rcb4e97d2ebfd42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a22c558ed54bbe" /><Relationship Type="http://schemas.openxmlformats.org/officeDocument/2006/relationships/notesMaster" Target="/ppt/notesMasters/notesMaster1.xml" Id="R1d033fdda95f4d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009870197342c1" /><Relationship Type="http://schemas.openxmlformats.org/officeDocument/2006/relationships/notesMaster" Target="/ppt/notesMasters/notesMaster1.xml" Id="Rff89b939773646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เปิดเรื่อง: วันนี้เสนอวิธีจัดสรรห้องซ้อม 9 ห้องให้นิสิต 74 คน โดยใช้ระบบจองและกติกาการเข้าใช้ แผน A เป็นช่วงทดลอง และแผน B เป็นเป้าหมายเมื่อจัดตารางได้จริง เรายังไม่เสนอซื้อสมาร์ตล็อกหรือเพิ่มเวลาเปิดอาคาร</a:t>
            </a:r>
          </a:p>
          <a:p xmlns:a="http://schemas.openxmlformats.org/drawingml/2006/main">
            <a:r>
              <a:t>ภาพประกอบสร้างด้วย AI เป็นภาพแนวคิด ไม่ใช่ภาพสถานที่จริง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เริ่มจากข้อร้องเรียนว่ามีผู้จองห้องแล้วไม่ใช้ ยังไม่มีข้อมูลวัดขนาดปัญหา จึงไม่กล่าวว่ารุ่นพี่ทุกคนเป็นผู้กระทำ กติกาต้องใช้กับทุกชั้นปีเท่ากัน ระบบจองอย่างเดียวอาจย้ายการจองทิ้งจากกระดาษมาออนไลน์ จึงต้องมีเช็กอินและคืนห้องด้วย การอนุมัติอัตโนมัติลดงานรายรายการ แต่ยังต้องมีคนรับผิดชอบข้อพิพาท ผลที่แสดงเป็นผลที่คาดหวัง ต้องตรวจจากการทดลอง</a:t>
            </a:r>
          </a:p>
          <a:p xmlns:a="http://schemas.openxmlformats.org/drawingml/2006/main">
            <a:r>
              <a:t>ที่มา: ข้อร้องเรียนและข้อจำกัดบุคลากรที่ผู้เสนอระบุในบทสนทนา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นับจากแถวรายชื่อนิสิตทุกชีตด้วย Python ได้ปี 1 จำนวน 17 คน ปี 2 จำนวน 20 คน ปี 3 จำนวน 19 คน ปี 4 จำนวน 18 คน รวม 74 คน กลุ่มเครื่องลมไม้รวมแซ็กโซโฟน กลุ่มเครื่องสายไม่รวมกีตาร์และฮาร์บ ซึ่งแยกแสดง ส่วนขับร้องรวมขับร้องเพลงคลาสสิก เปียโนมี 6 คน แต่ผู้ใช้เปียโนอาจรวมการซ้อมร่วมกับนักเปียโน ต้องสำรวจอุปกรณ์และสภาพแต่ละห้องก่อนจัดสิทธิ์</a:t>
            </a:r>
          </a:p>
          <a:p xmlns:a="http://schemas.openxmlformats.org/drawingml/2006/main">
            <a:r>
              <a:t>ที่มา: รายชื่อนิสิตป.ตรี ทั้ง 4 ปี.xlsx ชีตปี1 แถว 4–20, ปี2 แถว 4–23, ปี3 แถว 4–22, ปี4 แถว 4–21 คอลัมน์เครื่องมือเอก D สำหรับปี1 และ C สำหรับปี2–4 หัวกระดาษระบุปีการศึกษาต่างกัน ต้องยืนยันสถานะปัจจุบันก่อนเปิดสิทธิ์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ใช้ข้อมูลล่าสุดคือห้องซ้อม 9 ห้อง ทุกห้องใช้ซ้อมและเรียนสกิล ไม่มีการสอนอื่น เปิด 5 วัน วันละ 12 ชั่วโมง จึงมีความจุสูงสุด 540 ห้อง-ชั่วโมงต่อสัปดาห์ ไม่ได้นับห้องบรรยาย 2 ห้อง สมมติเรียนสกิลรายบุคคล 74 คน คนละหนึ่งชั่วโมงและใช้หนึ่งห้องต่อคาบ จึงกัน 74 ชั่วโมง เหลือ 466 ชั่วโมงสำหรับซ้อม ก่อนหักห้องเสียหรือข้อจำกัดตามเวลา หนึ่งห้อง-ชั่วโมงหมายถึงหนึ่งห้องเป็นเวลาหนึ่งชั่วโมง ไม่ใช่จำนวนชั่วโมงรวมของผู้เรียนในกลุ่ม</a:t>
            </a:r>
          </a:p>
          <a:p xmlns:a="http://schemas.openxmlformats.org/drawingml/2006/main">
            <a:r>
              <a:t>ที่มา: เงื่อนไขที่ผู้เสนอระบุ คำนวณ 9×12×5=540 และ 540−74=466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เหตุผลที่เสนอ A คือยังไม่รู้ว่าความต้องการกระจุกเวลาใด และต้องเผื่อคาบเลื่อนหรือห้องเสีย ให้ทุกคนจองซ้อมได้ 4 ชั่วโมงต่อสัปดาห์ และเรียนสกิล 1 ชั่วโมง แยกสองประเภทเวลา ชั่วโมงซ้อมที่ 5 ให้จากเวลาที่เหลือ โดยพิจารณาผู้ไม่มีสถานที่ซ้อมจริงก่อน และเปิดให้คนอื่นเมื่อยังว่าง ไม่มีสิทธิ์เหนือกว่าจากชั้นปี ผลที่คาดหวังคือเริ่มจัดสรรอย่างมีระเบียบและยังปรับตารางง่าย ข้อเสียคือชั่วโมงที่ 5 ยังไม่แน่นอนและมีงานตรวจสิทธิ์เพิ่มเติม</a:t>
            </a:r>
          </a:p>
          <a:p xmlns:a="http://schemas.openxmlformats.org/drawingml/2006/main">
            <a:r>
              <a:t>คำนวณ: 74×4=296 ชั่วโมงซ้อม บวก 74 ชั่วโมงสกิล รวม 370 จาก 540 เหลือ 170 ก่อนจัดชั่วโมงเพิ่มเติม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เหตุผลที่เสนอ B คือให้ทุกคนมีสิทธิ์ชั่วโมงที่ 5 เท่ากัน ไม่ต้องขอสิทธิ์เพิ่มเติมเฉพาะชั่วโมงนั้น และมุ่งให้ซ้อมวันละหนึ่งชั่วโมงในห้าวันเปิดทำการ สิทธิ์รวม 5 ชั่วโมงต่อสัปดาห์ยังไม่รับประกันวันละหนึ่งชั่วโมง ต้องลงตารางจริงให้ครบห้าวันถ้าจะรับรองเป้าหมายรายวัน การเรียนสกิลไม่นับแทนการซ้อม ข้อดีคือสิทธิ์ชัดเจนและวางแผนได้ ข้อเสียคือตารางแน่นขึ้นและเหลือเวลาสำรองน้อยกว่า A</a:t>
            </a:r>
          </a:p>
          <a:p xmlns:a="http://schemas.openxmlformats.org/drawingml/2006/main">
            <a:r>
              <a:t>คำนวณ: 74×5=370 ชั่วโมงซ้อม บวก 74 ชั่วโมงสกิล รวม 444 จาก 540 เหลือ 96 ชั่วโมง ใช้ความจุ 82.2%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กราฟนี้เป็นสถานการณ์ทุกคนใช้สิทธิ์พื้นฐานครบ ไม่ใช่ผลวัดการใช้จริง แผน A มีซ้อม 296 สกิล 74 และเหลือ 170 รวม 540 แผน B มีซ้อม 370 สกิล 74 และเหลือ 96 รวม 540 หากสมมติเผื่อความจุ 10% คือ 54 ชั่วโมง แผน A เหลือ 116 ก่อนชั่วโมงเพิ่ม และ B เหลือ 42 ชั่วโมง นี่คือเหตุผลที่ A ปรับตารางง่ายกว่า แต่ทั้งสองแผนยังต้องตรวจเวลาว่างของนิสิตและความเหมาะสมของห้อง ถ้า A แจกชั่วโมงที่ 5 ครบทุกคน จะมีการใช้ความจุเท่ากับ B</a:t>
            </a:r>
          </a:p>
          <a:p xmlns:a="http://schemas.openxmlformats.org/drawingml/2006/main">
            <a:r>
              <a:t>ที่มา: คำนวณจาก 74 คน ห้อง 9 ห้อง 12 ชั่วโมง 5 วัน สมมติฐานเผื่อ 10% ไม่ใช่เวลาปิดซ่อมที่ตรวจพบ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ตัวอย่างสมมติว่าต้องซ้อมเฉพาะ 15.00 ถึง 20.00 น. ความจุช่วงนั้นเท่ากับ 9×5×5=225 ชั่วโมงต่อสัปดาห์ แต่แผน B ต้องการเวลาซ้อมอย่างเดียว 74×5=370 ชั่วโมง จึงขาด 145 ชั่วโมงก่อนคิดเวลาเรียนสกิล ตัวอย่างนี้ไม่ใช่ข้อมูลว่าทุกคนว่างเฉพาะช่วงเย็น แต่แสดงว่าความจุรวมอย่างเดียวไม่พอจะรับรองสิทธิ์รายวัน จำเป็นต้องสำรวจเวลาที่นิสิตว่างและลงตารางสกิลก่อน เป้าหมายซ้อมวันละหนึ่งชั่วโมงในเชิงการจัดห้องเป็นไปได้ แต่จำนวนชั่วโมงฝึกที่เหมาะสมทางวิชาการให้อาจารย์แต่ละเครื่องมือกำหนด</a:t>
            </a:r>
          </a:p>
          <a:p xmlns:a="http://schemas.openxmlformats.org/drawingml/2006/main">
            <a:r>
              <a:t>ที่มา: สถานการณ์สมมติช่วงเย็น 5 ชั่วโมงต่อวัน คำนวณ 225 และ 370−225=145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เสนอให้ใช้บัญชีมหาวิทยาลัยและรายชื่อผู้มีสิทธิ์ กันเครดิตตามสัปดาห์ที่เข้าใช้ ไม่ใช่สัปดาห์ที่กดจอง รีเซ็ตวันจันทร์ ไม่สะสม จองล่วงหน้าไม่เกิน 7 วัน ห้ามจองทับซ้อน ระบบอนุมัติอัตโนมัติเมื่อมีห้องและเครดิต เช็กอิน QR ภายใน 10 นาที ถ้าไม่มาให้คืนห้องและไม่คืนเครดิต ยกเลิกล่วงหน้า 2 ชั่วโมงคืนเครดิต บันทึกทุกการใช้รวมถึงห้องว่างใกล้เวลา QR ถ่ายส่งต่อได้และไม่พิสูจน์ว่าอยู่ซ้อมตลอด จึงยังต้องมีช่องแจ้งปัญหาและตรวจกรณีผิดปกติ แยกสิทธิ์เรียนสกิลเป็นตารางอาจารย์ ไม่ให้นิสิตกดจองเพื่ออ้างว่ามีเรียนเอง</a:t>
            </a:r>
          </a:p>
          <a:p xmlns:a="http://schemas.openxmlformats.org/drawingml/2006/main">
            <a:r>
              <a:t>ที่มา: กติกาที่เสนอสำหรับการทดลอง ยังไม่ได้ติดตั้งระบบ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ทุกคนทุกชั้นปีได้สิทธิ์พื้นฐานเดียวกัน แผน A ใช้ความจำเป็นจริงพิจารณาชั่วโมงที่ 5 เช่น ไม่มีเครื่องที่บ้าน ซ้อมแล้วรบกวนผู้อื่น หรือที่พักห้ามซ้อม ไม่ใช้ที่พักหรือการเป็นรุ่นพี่เป็นเกณฑ์อัตโนมัติ ให้ยืนยันครั้งเดียวต่อภาคเรียน สำหรับห้องเฉพาะเครื่องมือให้จัดตามความเหมาะสมทั้ง A และ B ข้อร้องเรียนปกปิดตัวตนต่อผู้ใช้ทั่วไป แต่ผู้รับผิดชอบที่กำหนดตรวจสอบได้ จึงไม่ควรเรียกว่าไม่ระบุตัวตนต่อทุกฝ่าย ห้ามลงโทษจากคำร้องเดียว ตรวจบันทึกและให้ผู้จองชี้แจง เริ่มเตือน หากตรวจยืนยันการไม่มาซ้ำจึงใช้มาตรการพักจองล่วงหน้าตามกติกาที่ประกาศและมีช่องอุทธรณ์</a:t>
            </a:r>
          </a:p>
          <a:p xmlns:a="http://schemas.openxmlformats.org/drawingml/2006/main">
            <a:r>
              <a:t>ที่มา: ข้อเสนอกติกาภาควิชา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แผน A ไม่ได้มีภาระน้อยกว่า B ทุกด้าน A มีเวลาสำรองมากแต่ต้องดูเกณฑ์ผู้ขอชั่วโมงที่ 5 ส่วน B กติกาสิทธิ์เรียบง่ายแต่ต้องแก้ปัญหาตารางที่แน่นกว่า ทั้งสองแผนไม่ต้องมีคนอนุมัติทุกการจอง แต่ต้องมีผู้รับผิดชอบหนึ่งคนและผู้สำรอง อาจารย์ดูตารางสกิล ผู้ดูแลระบบดูบัญชีและเหตุขัดข้อง ผู้รับผิดชอบภาควิชาดูข้อร้องเรียนและรายงานสรุป การกำหนดผู้รับผิดชอบเป็นบทบาท อาจใช้บุคลากรเดิมได้แต่ต้องตกลงภาระงานจริง</a:t>
            </a:r>
          </a:p>
          <a:p xmlns:a="http://schemas.openxmlformats.org/drawingml/2006/main">
            <a:r>
              <a:t>ที่มา: วิเคราะห์ขั้นตอนที่เสนอ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ยังไม่มีใบเสนอราคาซอฟต์แวร์ ค่าแรง และข้อมูลไฟฟ้าจริง จึงไม่ใส่งบบาทที่ไม่มีหลักฐาน ไม่มีงบซื้อสมาร์ตล็อกในข้อเสนอนี้ และไม่เพิ่มเวลาเปิดอาคาร ระบบจองต้องตรวจว่ามหาวิทยาลัยมีเครื่องมือที่รองรับโควตาและเช็กอินอยู่แล้วหรือไม่ ถ้ามีอาจไม่มีค่าลิขสิทธิ์เพิ่มแต่ยังมีเวลาบุคลากร ถ้าพัฒนาใหม่ต้องประเมินค่าตั้งค่า พัฒนา โฮสต์ และบำรุงรักษา A และ B ใช้ระบบเดียวกันเปลี่ยนโควตาได้ การใช้จริงของ B อาจมากขึ้นทำให้ค่าไฟและสึกหรอเพิ่ม แต่ถ้า A ให้ชั่วโมงที่ 5 ครบทุกคนก็ใช้ห้องเท่ากับ B ไม่ควรกล่าวว่า A ประหยัดค่าไฟกว่าแน่นอน</a:t>
            </a:r>
          </a:p>
          <a:p xmlns:a="http://schemas.openxmlformats.org/drawingml/2006/main">
            <a:r>
              <a:t>ที่มา: ขอบเขตข้อเสนอและแบบจำลองการใช้ห้อง ไม่มีใบเสนอราคาหรือข้อมูลต้นทุนจริง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เสนอเตรียมข้อมูลหนึ่งสัปดาห์ก่อนเริ่มการทดลอง 4 สัปดาห์ ระยะติดตั้งซอฟต์แวร์ต้องประเมินหลังตรวจระบบที่มี ไม่ได้สัญญาว่าพัฒนาเสร็จในหนึ่งสัปดาห์ ก่อนทดลองต้องตรวจรายชื่อ สภาพห้อง ลงตารางสกิล และทดสอบจองชน เครดิต เช็กอิน คืนห้อง ข้อร้องเรียน ใช้ A ในช่วงทดลอง วัดผู้ได้ครบ 4 และ 5 ชั่วโมง จำนวนวันที่ได้ซ้อม คำขอที่จัดไม่ได้แยกตามเวลาและเครื่องมือ อัตราไม่มา และเวลาบุคลากร หากข้อมูลยังไม่ครบให้ขยายการเก็บข้อมูลอย่างมีเหตุผล เปลี่ยน B เมื่อจัดตารางซ้อม 5 ชั่วโมงและเรียน 1 ชั่วโมงได้ครบทุกคนในรายชื่อที่ยืนยัน โดยตรวจข้อจำกัดแต่ละห้อง ถ้าจะรับรองวันละหนึ่งชั่วโมงต้องลงตารางครบห้าวันจริง</a:t>
            </a:r>
          </a:p>
          <a:p xmlns:a="http://schemas.openxmlformats.org/drawingml/2006/main">
            <a:r>
              <a:t>ที่มา: แผนทดลองและเกณฑ์พิจารณาที่เสนอ ผลลัพธ์ยังไม่เกิดขึ้น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ปิดการนำเสนอ: ขอเห็นชอบหลักการทดลองแผน A สี่สัปดาห์ โดยให้สิทธิ์ซ้อม 4 และเรียน 1 ชั่วโมง พร้อมจัดชั่วโมงซ้อมที่ 5 จากเวลาที่เหลือ กำหนดผู้รับผิดชอบและผู้สำรอง ให้สำรวจระบบเดิมและประเมินค่าใช้จ่ายก่อนเริ่ม เมื่อจัดตารางห้าชั่วโมงให้ทุกคนได้จึงเสนอเปลี่ยนเป็น B วันนี้ไม่ได้ขออนุมัติซื้อสมาร์ตล็อกหรือขยายเวลาอาคาร ข้อเสนอหลักคือทำให้สิทธิ์พื้นฐานชัดเจนและคืนเวลาที่ไม่ได้ใช้ให้คนรอ</a:t>
            </a:r>
          </a:p>
          <a:p xmlns:a="http://schemas.openxmlformats.org/drawingml/2006/main">
            <a:r>
              <a:t>คำตอบสั้นสำหรับคำถามว่าทำไมไม่เริ่ม B เลย: ถ้าลงตารางจริงให้ครบทุกคนได้ตั้งแต่ต้นก็เริ่ม B ได้ แต่ตอนนี้ยังไม่มีข้อมูลเวลาว่างรายคนและความเหมาะสมแต่ละห้อง การทดลอง A ช่วยลดการรับรองสิทธิ์ที่อาจจัดให้ไม่ได้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ใช้ตอบคำถามระหว่างประชุม ค่าร้อยละแสดงทศนิยมหนึ่งตำแหน่ง เผื่อ 10% คือสมมติฐาน ไม่ใช่ค่าที่วัด หัวกระดาษรายชื่อแต่ละชั้นปีต่างปีกันจึงต้องตรวจทะเบียนปัจจุบันก่อนดำเนินงาน เรียนสกิลสมมติรายบุคคลหนึ่งชั่วโมงต่อคนใช้หนึ่งห้อง ไม่มีการเรียนอื่นใน 9 ห้อง ไม่รวม 2 ห้องบรรยาย กราฟทุกชุดเป็นสถานการณ์ใช้สิทธิ์เต็ม ไม่ใช่ข้อมูลการเข้าใช้จริงหรือผลประเมินหลังทดลอง</a:t>
            </a:r>
          </a:p>
          <a:p xmlns:a="http://schemas.openxmlformats.org/drawingml/2006/main">
            <a:r>
              <a:t>ที่มา: รายชื่อนิสิตป.ตรี ทั้ง 4 ปี.xlsx และเงื่อนไขล่าสุดที่ผู้เสนอระบุในบทสนทนา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a981d3677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8b21d122584e8d" /><Relationship Type="http://schemas.openxmlformats.org/officeDocument/2006/relationships/slideLayout" Target="/ppt/slideLayouts/slideLayout1.xml" Id="R8f16f40ac07247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6f40ac07247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720d8a3c14427" /><Relationship Type="http://schemas.openxmlformats.org/officeDocument/2006/relationships/image" Target="/ppt/media/image.png" Id="R4bec833151e64079" /><Relationship Type="http://schemas.openxmlformats.org/officeDocument/2006/relationships/notesSlide" Target="/ppt/notesSlides/notesSlide1.xml" Id="R5cc6cee67cb1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1ee17b5f34d75" /><Relationship Type="http://schemas.openxmlformats.org/officeDocument/2006/relationships/notesSlide" Target="/ppt/notesSlides/notesSlide2.xml" Id="Reb2e34c8a3cd42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07da207f54a8b" /><Relationship Type="http://schemas.openxmlformats.org/officeDocument/2006/relationships/chart" Target="/ppt/slides/charts/chart1.xml" Id="R0d62ad435a5242a2" /><Relationship Type="http://schemas.openxmlformats.org/officeDocument/2006/relationships/notesSlide" Target="/ppt/notesSlides/notesSlide3.xml" Id="Rca659e71c257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d05cc5ff548a4" /><Relationship Type="http://schemas.openxmlformats.org/officeDocument/2006/relationships/notesSlide" Target="/ppt/notesSlides/notesSlide4.xml" Id="Rd5122d1c77824a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cacb04a3646f3" /><Relationship Type="http://schemas.openxmlformats.org/officeDocument/2006/relationships/notesSlide" Target="/ppt/notesSlides/notesSlide5.xml" Id="R8415667d16e145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ac6c405084225" /><Relationship Type="http://schemas.openxmlformats.org/officeDocument/2006/relationships/notesSlide" Target="/ppt/notesSlides/notesSlide6.xml" Id="R291d182d2c67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2b18bbec04242" /><Relationship Type="http://schemas.openxmlformats.org/officeDocument/2006/relationships/chart" Target="/ppt/slides/charts/chart2.xml" Id="R00ad9d5eb9894e1d" /><Relationship Type="http://schemas.openxmlformats.org/officeDocument/2006/relationships/notesSlide" Target="/ppt/notesSlides/notesSlide7.xml" Id="Rd4c29e29f750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54d97288643c8" /><Relationship Type="http://schemas.openxmlformats.org/officeDocument/2006/relationships/chart" Target="/ppt/slides/charts/chart3.xml" Id="R19c5856bd4404cda" /><Relationship Type="http://schemas.openxmlformats.org/officeDocument/2006/relationships/notesSlide" Target="/ppt/notesSlides/notesSlide8.xml" Id="R3facb0d8498f43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c7b17410f4af2" /><Relationship Type="http://schemas.openxmlformats.org/officeDocument/2006/relationships/notesSlide" Target="/ppt/notesSlides/notesSlide9.xml" Id="Rce4d11bede3d48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82729fc8b4aba" /><Relationship Type="http://schemas.openxmlformats.org/officeDocument/2006/relationships/notesSlide" Target="/ppt/notesSlides/notesSlide10.xml" Id="R576dfbf2b3cf4d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4afa8360347bc" /><Relationship Type="http://schemas.openxmlformats.org/officeDocument/2006/relationships/notesSlide" Target="/ppt/notesSlides/notesSlide11.xml" Id="R2663012ad8da43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4570ae20a4daf" /><Relationship Type="http://schemas.openxmlformats.org/officeDocument/2006/relationships/notesSlide" Target="/ppt/notesSlides/notesSlide12.xml" Id="R2cf3d994103d49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cd3b4086b4a36" /><Relationship Type="http://schemas.openxmlformats.org/officeDocument/2006/relationships/notesSlide" Target="/ppt/notesSlides/notesSlide13.xml" Id="Rbb288a4ea28649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960eb77fd439d" /><Relationship Type="http://schemas.openxmlformats.org/officeDocument/2006/relationships/notesSlide" Target="/ppt/notesSlides/notesSlide14.xml" Id="Reae1b866a1ae46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188d166fe43f1" /><Relationship Type="http://schemas.openxmlformats.org/officeDocument/2006/relationships/notesSlide" Target="/ppt/notesSlides/notesSlide15.xml" Id="R946e4a31833445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จำนวนนิสิต</c:v>
          </c:tx>
          <c:spPr>
            <a:solidFill xmlns:a="http://schemas.openxmlformats.org/drawingml/2006/main">
              <a:srgbClr val="287F80"/>
            </a:solidFill>
          </c:spPr>
          <c:cat>
            <c:strRef>
              <c:f>'Chart Data'!$A$2:$A$9</c:f>
              <c:strCache>
                <c:ptCount val="8"/>
                <c:pt idx="0">
                  <c:v>ลมไม้</c:v>
                </c:pt>
                <c:pt idx="1">
                  <c:v>เครื่องสาย</c:v>
                </c:pt>
                <c:pt idx="2">
                  <c:v>ทองเหลือง</c:v>
                </c:pt>
                <c:pt idx="3">
                  <c:v>ขับร้อง</c:v>
                </c:pt>
                <c:pt idx="4">
                  <c:v>เปียโน</c:v>
                </c:pt>
                <c:pt idx="5">
                  <c:v>กีตาร์</c:v>
                </c:pt>
                <c:pt idx="6">
                  <c:v>เครื่องตี</c:v>
                </c:pt>
                <c:pt idx="7">
                  <c:v>ฮาร์บ</c:v>
                </c:pt>
              </c:strCache>
            </c:strRef>
          </c:cat>
          <c:val>
            <c:numRef>
              <c:f>'Chart Data'!$B$2:$B$9</c:f>
              <c:numCache>
                <c:formatCode>0</c:formatCode>
                <c:ptCount val="8"/>
                <c:pt idx="0">
                  <c:v>20</c:v>
                </c:pt>
                <c:pt idx="1">
                  <c:v>15</c:v>
                </c:pt>
                <c:pt idx="2">
                  <c:v>13</c:v>
                </c:pt>
                <c:pt idx="3">
                  <c:v>11</c:v>
                </c:pt>
                <c:pt idx="4">
                  <c:v>6</c:v>
                </c:pt>
                <c:pt idx="5">
                  <c:v>5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343D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6"/>
      </c:valAx>
      <c:spPr>
        <a:solidFill xmlns:a="http://schemas.openxmlformats.org/drawingml/2006/main">
          <a:srgbClr val="F7F4E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ซ้อม</c:v>
          </c:tx>
          <c:spPr>
            <a:solidFill xmlns:a="http://schemas.openxmlformats.org/drawingml/2006/main">
              <a:srgbClr val="287F80"/>
            </a:solidFill>
          </c:spPr>
          <c:cat>
            <c:strRef>
              <c:f>'Chart Data'!$A$2:$A$3</c:f>
              <c:strCache>
                <c:ptCount val="2"/>
                <c:pt idx="0">
                  <c:v>แผน A</c:v>
                </c:pt>
                <c:pt idx="1">
                  <c:v>แผน B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296</c:v>
                </c:pt>
                <c:pt idx="1">
                  <c:v>370</c:v>
                </c:pt>
              </c:numCache>
            </c:numRef>
          </c:val>
        </c:ser>
        <c:ser>
          <c:idx val="1"/>
          <c:order val="1"/>
          <c:tx>
            <c:v>เรียนสกิล</c:v>
          </c:tx>
          <c:spPr>
            <a:solidFill xmlns:a="http://schemas.openxmlformats.org/drawingml/2006/main">
              <a:srgbClr val="BA7B30"/>
            </a:solidFill>
          </c:spPr>
          <c:cat>
            <c:strRef>
              <c:f>'Chart Data'!$C$2:$C$3</c:f>
              <c:strCache>
                <c:ptCount val="2"/>
                <c:pt idx="0">
                  <c:v>แผน A</c:v>
                </c:pt>
                <c:pt idx="1">
                  <c:v>แผน B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74</c:v>
                </c:pt>
                <c:pt idx="1">
                  <c:v>74</c:v>
                </c:pt>
              </c:numCache>
            </c:numRef>
          </c:val>
        </c:ser>
        <c:ser>
          <c:idx val="2"/>
          <c:order val="2"/>
          <c:tx>
            <c:v>เหลือ</c:v>
          </c:tx>
          <c:spPr>
            <a:solidFill xmlns:a="http://schemas.openxmlformats.org/drawingml/2006/main">
              <a:srgbClr val="D8DFDB"/>
            </a:solidFill>
          </c:spPr>
          <c:cat>
            <c:strRef>
              <c:f>'Chart Data'!$E$2:$E$3</c:f>
              <c:strCache>
                <c:ptCount val="2"/>
                <c:pt idx="0">
                  <c:v>แผน A</c:v>
                </c:pt>
                <c:pt idx="1">
                  <c:v>แผน B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170</c:v>
                </c:pt>
                <c:pt idx="1">
                  <c:v>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7343D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54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7F4E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343D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7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ชั่วโมงต่อสัปดาห์</c:v>
          </c:tx>
          <c:spPr>
            <a:solidFill xmlns:a="http://schemas.openxmlformats.org/drawingml/2006/main">
              <a:srgbClr val="287F8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A7B3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F80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ห้องว่างช่วงเย็น</c:v>
                </c:pt>
                <c:pt idx="1">
                  <c:v>ความต้องการซ้อม B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225</c:v>
                </c:pt>
                <c:pt idx="1">
                  <c:v>370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343D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150"/>
      </c:valAx>
      <c:spPr>
        <a:solidFill xmlns:a="http://schemas.openxmlformats.org/drawingml/2006/main">
          <a:srgbClr val="F7F4E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649A5-4B43-4371-ADFE-327FC546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c833151e640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DF5AA-FFFC-4F56-BADF-09A82B4C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975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แผนจัดการ</a:t>
            </a:r>
          </a:p>
          <a:p xmlns:a="http://schemas.openxmlformats.org/drawingml/2006/main">
            <a:pPr>
              <a:defRPr sz="3975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975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ห้องซ้อมดนตรี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1AFA5-DF01-4C6B-A5C0-25061269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สิทธิ์ซ้อมที่ชัดเจน</a:t>
            </a:r>
          </a:p>
          <a:p xmlns:a="http://schemas.openxmlformats.org/drawingml/2006/main">
            <a:pPr>
              <a:defRPr sz="21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และการคืนห้องเมื่อไม่มาใช้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D12DE-90CF-4923-AA3F-B914329E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แผน A และแผน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303C4-375B-4804-BE8B-64561EC7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ข้อเสนอเพื่อพิจารณา</a:t>
            </a:r>
          </a:p>
        </p:txBody>
      </p:sp>
    </p:spTree>
    <p:extLst>
      <p:ext uri="{BB962C8B-B14F-4D97-AF65-F5344CB8AC3E}">
        <p14:creationId xmlns:p14="http://schemas.microsoft.com/office/powerpoint/2010/main" val="1634498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5F6E0-DDA2-418C-B06A-F85394F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มาตรการต้องตรงกับปัญหา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92A7-B0D2-41A8-B18B-CF2B758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4114800"/>
              </a:tblGrid>
              <a:tr h="7524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ปัญหาที่ต้องแก้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มาตรการที่เสนอ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ผลที่คาดว่าจะได้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จองแล้วไม่มาใช้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เช็กอินและคืนห้องอัตโนมัติ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ผู้รอได้ใช้ช่วงเวลาที่คืนมา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บางคนจองได้มากกว่า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โควตารายสัปดาห์เท่ากัน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ทุกคนมีสิทธิ์พื้นฐานชัดเจน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เจ้าหน้าที่ไม่พอ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ระบบตรวจสิทธิ์และอนุมัติเอง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คนดูแลเฉพาะข้อยกเว้น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ว่างพร้อมกันช่วงเย็น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เก็บเวลาที่จองไม่ได้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เห็นว่าขาดห้องช่วงใดจริง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10AC2-779C-4348-9D1C-611F00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กติกาเดียวกันทุกชั้นปี ผลลัพธ์ข้างต้นเป็นสิ่งที่จะตรวจสอบในการทดลอง</a:t>
            </a:r>
          </a:p>
        </p:txBody>
      </p:sp>
    </p:spTree>
    <p:extLst>
      <p:ext uri="{BB962C8B-B14F-4D97-AF65-F5344CB8AC3E}">
        <p14:creationId xmlns:p14="http://schemas.microsoft.com/office/powerpoint/2010/main" val="1127380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DA14C-2BC5-4864-AFCA-990C82CD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นิสิต 74 คนมีความต้องการห้องต่างกัน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52F3-0F00-4CB4-BA2A-9A4B9A3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6858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62ad435a5242a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D26CC-663F-4423-BCAD-4C85B12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1927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6 คน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0FEEB-D8E4-45AF-ACA2-1FD5BFC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เป็นเอกเปียโน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8868-E4F2-4251-A93C-76378900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ห้องที่เหมาะสม</a:t>
            </a:r>
          </a:p>
          <a:p xmlns:a="http://schemas.openxmlformats.org/drawingml/2006/main">
            <a:pPr>
              <a:defRPr sz="21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ขึ้นกับเครื่องดนตรี</a:t>
            </a:r>
          </a:p>
          <a:p xmlns:a="http://schemas.openxmlformats.org/drawingml/2006/main">
            <a:pPr>
              <a:defRPr sz="21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และรูปแบบการซ้อม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EE5B3-03D8-45A5-9D35-0AFE1B49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ข้อมูลรายชื่อ 4 ชั้นปี ต้องยืนยันสถานะปัจจุบันและสภาพอุปกรณ์ก่อนเปิดสิทธิ์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1439046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D344A-9B41-4BF7-9FBA-3DCFE863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ความจุที่ใช้วางแผน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4F5B-8B5A-4177-B2E2-C161AC2F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A523B-0FD3-417D-A552-2962440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00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9 ห้อง × 12 ชั่วโมง × 5 วัน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48C19-527C-4320-96EF-5B8CD8C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8400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540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99670-D63A-4A11-A273-935AEE5C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ห้อง-ชั่วโมง / สัปดาห์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48083-69C0-4743-A460-AC50E071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A7B3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BA7B30"/>
                </a:solidFill>
                <a:latin typeface="Tahoma"/>
                <a:ea typeface="Tahoma"/>
                <a:cs typeface="Tahoma"/>
              </a:rPr>
              <a:t>กันเรียนสกิล 74 ชั่วโมง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6EB20-D4AD-442C-A591-E4500A46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71850"/>
            <a:ext cx="404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เหลือซ้อม 466 ชั่วโมง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8E96F-FD24-4D43-A5C2-BB995C33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529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เปิด 08.00–20.00 น.</a:t>
            </a:r>
          </a:p>
          <a:p xmlns:a="http://schemas.openxmlformats.org/drawingml/2006/main">
            <a:pPr>
              <a:defRPr sz="202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จันทร์–ศุกร์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A27ED-2C83-43FC-9F95-AA45F4F3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ความจุสูงสุดก่อนหักห้องปิดซ่อมและข้อจำกัดรายห้อง ไม่รวมห้องบรรยาย 2 ห้อง</a:t>
            </a:r>
          </a:p>
        </p:txBody>
      </p:sp>
    </p:spTree>
    <p:extLst>
      <p:ext uri="{BB962C8B-B14F-4D97-AF65-F5344CB8AC3E}">
        <p14:creationId xmlns:p14="http://schemas.microsoft.com/office/powerpoint/2010/main" val="736684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81286-B248-4A4D-86B4-C8C9B4F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แผน A: ซ้อม 4 ชั่วโมง + เรียนสกิล 1 ชั่วโมง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A3711-CFAF-4C2F-84A4-3359A724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170B-F33A-44B1-B396-3603D016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6300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4 + 1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826E6-B8D7-4C59-AFA0-B36BD44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สิทธิ์พื้นฐานต่อคน / สัปดาห์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B1969-8B01-431F-B70A-53518C99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370 / 540 ชั่วโมง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F993F-B007-487D-9747-40FD8302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5143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เหลือ 170 ชั่วโมงก่อนจัดเวลาเพิ่ม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A9E81-DAD3-41DD-902C-C0747D2F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9542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ทำไมเริ่มด้วยแผนนี้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F6D01-8543-4AB5-8379-F78E671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8825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เผื่อคาบเลื่อนและห้องเสีย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เรียนรู้เวลาที่นิสิตต้องการจริง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5A2E2-6381-40C9-9B7E-37780C8D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766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7B3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BA7B30"/>
                </a:solidFill>
                <a:latin typeface="Tahoma"/>
                <a:ea typeface="Tahoma"/>
                <a:cs typeface="Tahoma"/>
              </a:rPr>
              <a:t>สิ่งที่ต้องแลก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DA009-E35E-4752-BAF5-8AF96B9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0050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ชั่วโมงซ้อมที่ 5 ยังไม่แน่นอน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ต้องดูเกณฑ์ผู้ขอสิทธิ์เพิ่มเติม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5CF3B-5A90-4EFB-B9D1-B811719B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ชั่วโมงที่ 5 จัดจากเวลาที่เหลือ โดยพิจารณาผู้ไม่มีพื้นที่ซ้อมจริงก่อน</a:t>
            </a:r>
          </a:p>
        </p:txBody>
      </p:sp>
    </p:spTree>
    <p:extLst>
      <p:ext uri="{BB962C8B-B14F-4D97-AF65-F5344CB8AC3E}">
        <p14:creationId xmlns:p14="http://schemas.microsoft.com/office/powerpoint/2010/main" val="8175031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FCAC4-CC4D-46AB-9FF0-2BEE529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แผน B: ซ้อม 5 ชั่วโมง + เรียนสกิล 1 ชั่วโมง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0FA61-127B-40CA-B85D-8855F16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B402D-08B1-4606-8F5D-1C6AEB7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6300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5 + 1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5881C-5D70-47D8-9AB0-4715B393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สิทธิ์พื้นฐานต่อคน / สัปดาห์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2CF4-9B16-4940-BDEB-9A5250B8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444 / 540 ชั่วโมง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21509-A1C6-4BA7-9F5A-64E36010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5143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เหลือ 96 ชั่วโมงก่อนเผื่อข้อจำกัด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B3B08-6F08-474A-9356-C6DE30CE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9542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ทำไมมีแผนนี้เป็นเป้าหมาย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7A1A5-1815-4F69-B260-021D884B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8825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ทุกคนได้ชั่วโมงที่ 5 เท่ากัน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วางแผนซ้อมได้ชัดเจนขึ้น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6CA2D-7F66-4922-AD9D-FFBA458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766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7B3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BA7B30"/>
                </a:solidFill>
                <a:latin typeface="Tahoma"/>
                <a:ea typeface="Tahoma"/>
                <a:cs typeface="Tahoma"/>
              </a:rPr>
              <a:t>สิ่งที่ต้องแลก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16E15-1A1F-47E5-A9BE-3C1AA837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0050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ตารางแน่นขึ้น ต้องกระจายเวลา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ยังเลือกเวลาโปรดได้ไม่ทุกคน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1135E-43A0-4FA3-91F4-6D1A523A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เป้าหมายวันละ 1 ชั่วโมงหมายถึง 5 วันเปิดทำการ และต้องจัดตารางรายวันให้ลงจริง</a:t>
            </a:r>
          </a:p>
        </p:txBody>
      </p:sp>
    </p:spTree>
    <p:extLst>
      <p:ext uri="{BB962C8B-B14F-4D97-AF65-F5344CB8AC3E}">
        <p14:creationId xmlns:p14="http://schemas.microsoft.com/office/powerpoint/2010/main" val="10850037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307D-718D-41FA-981A-F765E211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Forecast: ความจุรองรับทั้ง A และ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42D1B-31B2-474C-A7DF-5552B33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06125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ad9d5eb9894e1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F1422-9B37-45D6-A2CD-BDBB9E57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A ใช้ 68.5%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83EB1-021E-4B88-9CF5-5BE7B79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482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B ใช้ 82.2%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D2E17-4A6C-491E-AA37-5D08A82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95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เผื่อความจุ 10% แล้ว เหลือ 116 ชม.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36AF6-7844-4780-8E67-48A8545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959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เผื่อความจุ 10% แล้ว เหลือ 42 ชม.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4E24C-7690-49C2-8644-61AF27CA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หน่วย: ห้อง-ชั่วโมง/สัปดาห์ สถานการณ์ใช้สิทธิ์ครบ การเผื่อ 10% เป็นสมมติฐาน</a:t>
            </a:r>
          </a:p>
        </p:txBody>
      </p:sp>
    </p:spTree>
    <p:extLst>
      <p:ext uri="{BB962C8B-B14F-4D97-AF65-F5344CB8AC3E}">
        <p14:creationId xmlns:p14="http://schemas.microsoft.com/office/powerpoint/2010/main" val="588168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3DB14-3E5A-4403-AA30-7788E3FB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เวลาว่างพร้อมกันอาจเป็นข้อจำกัดหลัก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8C692-AE8F-486A-8835-F68D27F7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600200"/>
          <a:ext xmlns:a="http://schemas.openxmlformats.org/drawingml/2006/main" cx="714375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c5856bd4404cd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537D2-B124-4FE4-A634-4DA9952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A54B4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A54B40"/>
                </a:solidFill>
                <a:latin typeface="Tahoma"/>
                <a:ea typeface="Tahoma"/>
                <a:cs typeface="Tahoma"/>
              </a:rPr>
              <a:t>ขาด 145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DE152-EC3E-467A-A9FF-E842849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ชั่วโมง / สัปดาห์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B171B-B133-4653-9F69-9C032DAC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หากทุกคนต้องการ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เฉพาะ 15.00–20.00 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E6273-DB9C-4EF7-A082-A54CDFF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ตัวอย่างสมมติ ยังไม่รวมเรียนสกิล ต้องสำรวจเวลาว่างจริงก่อนรับรองตารางรายวัน</a:t>
            </a:r>
          </a:p>
        </p:txBody>
      </p:sp>
    </p:spTree>
    <p:extLst>
      <p:ext uri="{BB962C8B-B14F-4D97-AF65-F5344CB8AC3E}">
        <p14:creationId xmlns:p14="http://schemas.microsoft.com/office/powerpoint/2010/main" val="683007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82E20-6D28-4D95-88A5-CD067017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การจองที่คืนห้องให้คนรอได้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B5B48-5B36-4FE1-874B-7382487B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77A56-41D0-4CB2-BD73-DE0FD170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44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8B963-FF79-4EA8-9D61-CD60C85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จอง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03035-03E7-489A-96D9-5543427C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2352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บัญชีมหาวิทยาลัย</a:t>
            </a:r>
          </a:p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ใช้เครดิตรายสัปดาห์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B8FB4-F094-42B6-8489-45E3C33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19250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44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0C9BB-4B24-4C0E-A038-4AF7887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574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อนุมัติ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23ED-7D91-4232-9E8A-4475EC2B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90900"/>
            <a:ext cx="2352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ระบบตรวจห้อง</a:t>
            </a:r>
          </a:p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และสิทธิ์อัตโนมัติ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9FF4B-23BC-426D-BE62-5A7A96F5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19250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44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EE9E2-9808-48F9-BA15-DD53E379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574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เช็กอิน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C662E-25BA-4857-8F87-0EC44F0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90900"/>
            <a:ext cx="2352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มาถึงภายใน</a:t>
            </a:r>
          </a:p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10 นาที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FCFB0-9C24-4F1A-9BE8-05C224EC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19250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44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E110B-8C33-4B07-9211-A5EBD13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574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คืนห้อง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9A7E-6F62-42AA-BB95-ED6F917F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90900"/>
            <a:ext cx="2352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ไม่มาใช้</a:t>
            </a:r>
          </a:p>
          <a:p xmlns:a="http://schemas.openxmlformats.org/drawingml/2006/main">
            <a:pPr>
              <a:defRPr sz="1950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ห้องกลับเข้าคิว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86632-1829-4540-8716-2BDAB7C3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A7B30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BA7B30"/>
                </a:solidFill>
                <a:latin typeface="Tahoma"/>
                <a:ea typeface="Tahoma"/>
                <a:cs typeface="Tahoma"/>
              </a:rPr>
              <a:t>ยกเลิกล่วงหน้าอย่างน้อย 2 ชั่วโมง จึงคืนเครดิต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FACFA-69FF-4DAB-8EBC-BBB5E09A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ระบบช่วยติดตามสิทธิ์ แต่ QR ไม่ยืนยันการซ้อมตลอดคาบ ยังต้องมีผู้ดูแลข้อพิพาท</a:t>
            </a:r>
          </a:p>
        </p:txBody>
      </p:sp>
    </p:spTree>
    <p:extLst>
      <p:ext uri="{BB962C8B-B14F-4D97-AF65-F5344CB8AC3E}">
        <p14:creationId xmlns:p14="http://schemas.microsoft.com/office/powerpoint/2010/main" val="96537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2DFBB-E44C-4C75-BC3B-D28B875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ความเป็นธรรมและการร้องเรียน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FA0C0-CB7E-4321-B6A9-4B793D72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0A4D1-C68A-4C9E-987B-E8D6893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สิทธิ์เพิ่มตามความจำเป็น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E5D6D-0875-4C99-AF48-9646F04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ผู้ไม่มีเครื่องหรือพื้นที่ซ้อมจริง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ลงทะเบียนครั้งเดียวต่อภาคเรียน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9B0D0-693E-408A-9EB8-1B5ED56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ผลที่ต้องการ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6DC72-4D2A-44FC-9E50-D5220C3A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ช่วยผู้เสียเปรียบด้านสถานที่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และลดการขออนุมัติรายครั้ง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A104C-54FE-4145-99AD-A42A7DE4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5735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ร้องเรียนโดยปกปิดชื่อ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A0378-5297-4CCC-8B31-EE1B319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4905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ผู้ใช้ทั่วไปไม่เห็นชื่อผู้ร้อง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ผู้รับผิดชอบตรวจหลักฐานได้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8E8D0-E039-4F88-81AD-EFE0B35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43325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7B3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BA7B30"/>
                </a:solidFill>
                <a:latin typeface="Tahoma"/>
                <a:ea typeface="Tahoma"/>
                <a:cs typeface="Tahoma"/>
              </a:rPr>
              <a:t>ข้อควรระวัง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A88B3-DB72-425A-A87E-43DCB7CC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76725"/>
            <a:ext cx="4905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คำร้องเดียวไม่ใช่ข้อยุติ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ต้องให้ชี้แจงและอุทธรณ์ได้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CCCE8-CE0B-4123-A708-813DBFE2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ใช้กติกาเดียวกันทุกชั้นปี ห้องเฉพาะเครื่องมือจัดตามความเหมาะสมของการใช้งาน</a:t>
            </a:r>
          </a:p>
        </p:txBody>
      </p:sp>
    </p:spTree>
    <p:extLst>
      <p:ext uri="{BB962C8B-B14F-4D97-AF65-F5344CB8AC3E}">
        <p14:creationId xmlns:p14="http://schemas.microsoft.com/office/powerpoint/2010/main" val="18729877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D59C2-1EBD-4040-B722-7E355FB2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ภาระบริหารของ A และ B ต่างกัน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CA391-83AF-4A1C-A7C5-3CF83C19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171950"/>
                <a:gridCol w="4181475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เรื่อง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แผน A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แผน B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การจัดตาราง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ยืดหยุ่นกว่า</a:t>
                      </a:r>
                    </a:p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เหลือเวลาก่อนเพิ่ม 170 ชม.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แน่นกว่า</a:t>
                      </a:r>
                    </a:p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เหลือเวลา 96 ชม.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สิทธิ์ชั่วโมงที่ 5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มีงานตรวจความจำเป็น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ทุกคนมีสิทธิ์เท่ากัน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ข้อดีในการดูแล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รองรับคาบเลื่อนได้ง่ายกว่า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อธิบายโควตาได้ง่ายกว่า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งานที่ยังต้องมี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ตารางสกิลและข้อร้องเรียน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ตารางสกิลและข้อร้องเรียน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46B62-2728-476C-BBFE-12C7533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ทั้งสองแผนต้องมีผู้รับผิดชอบและผู้สำรอง ระบบลดงานรายรายการแต่ไม่แทนการตัดสินข้อพิพาท</a:t>
            </a:r>
          </a:p>
        </p:txBody>
      </p:sp>
    </p:spTree>
    <p:extLst>
      <p:ext uri="{BB962C8B-B14F-4D97-AF65-F5344CB8AC3E}">
        <p14:creationId xmlns:p14="http://schemas.microsoft.com/office/powerpoint/2010/main" val="27119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6AFE9-42EA-486B-B7D2-7774FD6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ค่าใช้จ่าย: ใช้ระบบเดียวกันได้ทั้งสองแผน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CA0F5-616E-4C66-B11D-FB57B58A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171950"/>
                <a:gridCol w="4181475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แผน A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แผน B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ล็อก / เปิดอาคารดึก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ไม่ซื้อ / ไม่เพิ่มเวลา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ไม่ซื้อ / ไม่เพิ่มเวลา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ระบบจอง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ตั้งค่าและดูแลระบบร่วมกัน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ระบบเดียวกัน เปลี่ยนโควตา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เวลาบุคลากร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ดูสิทธิ์เพิ่มและข้อร้องเรียน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ดูตารางแน่นและข้อร้องเรียน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ค่าไฟ / ดูแลเครื่อง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ขึ้นกับการใช้จริง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อาจเพิ่มถ้าใช้จริงมากขึ้น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D9548-0AAB-47F8-B692-AEA6AC03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สมาร์ตล็อกใช้ทุนสูงและไม่ยืนยันการซ้อมจริง จึงเริ่มจากระบบจองก่อน</a:t>
            </a:r>
          </a:p>
          <a:p xmlns:a="http://schemas.openxmlformats.org/drawingml/2006/main">
            <a:pPr>
              <a:defRPr sz="1350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งบระบบต้องประเมินเพิ่มเติม หาก A แจกชั่วโมงที่ 5 ครบทุกคน การใช้ห้องจะเท่ากับ B</a:t>
            </a:r>
          </a:p>
        </p:txBody>
      </p:sp>
    </p:spTree>
    <p:extLst>
      <p:ext uri="{BB962C8B-B14F-4D97-AF65-F5344CB8AC3E}">
        <p14:creationId xmlns:p14="http://schemas.microsoft.com/office/powerpoint/2010/main" val="2097071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85ED4-004D-44EE-9CFD-E49B548B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การทดลองก่อนขยายสิทธิ์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B3A91-7AE4-43A1-B0FF-862E1628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B0EAF-40F8-4B3A-BCCE-BE4B595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ก่อนเริ่มทดลอง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2EB10-B9E5-4CA5-8395-9E898EA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ยืนยันรายชื่อและสภาพ 9 ห้อง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ลงตารางสกิลและทดสอบระบบ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2ADD4-6669-4827-B1B6-388DBD2B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52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ทดลอง A เป็นเวลา 4 สัปดาห์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43E7C-6884-4C03-9FE8-B59C90D8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8597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เก็บเวลาที่จองไม่ได้และการไม่มา</a:t>
            </a:r>
          </a:p>
          <a:p xmlns:a="http://schemas.openxmlformats.org/drawingml/2006/main">
            <a:pPr>
              <a:defRPr sz="202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ติดตามผู้ได้ซ้อมครบ 4 และ 5 ชม.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2020E-C90E-4C89-9F5C-77081AD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87F80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287F80"/>
                </a:solidFill>
                <a:latin typeface="Tahoma"/>
                <a:ea typeface="Tahoma"/>
                <a:cs typeface="Tahoma"/>
              </a:rPr>
              <a:t>เงื่อนไขเปลี่ยนเป็น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9585B-994C-45B6-B0BE-EB21B891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76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จัดซ้อม 5 ชม. + เรียน 1 ชม. ให้ครบทุกคนได้จริง</a:t>
            </a:r>
          </a:p>
          <a:p xmlns:a="http://schemas.openxmlformats.org/drawingml/2006/main">
            <a:pPr>
              <a:defRPr sz="217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พร้อมตารางรายวัน หากจะรับรองวันละ 1 ชั่วโมง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94C28-442E-438F-9F43-5A1FC9D0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เวลาเตรียมข้อมูลเสนอ 1 สัปดาห์ ระยะจัดทำระบบต้องประเมินแยกก่อนเริ่มทดลอง</a:t>
            </a:r>
          </a:p>
        </p:txBody>
      </p:sp>
    </p:spTree>
    <p:extLst>
      <p:ext uri="{BB962C8B-B14F-4D97-AF65-F5344CB8AC3E}">
        <p14:creationId xmlns:p14="http://schemas.microsoft.com/office/powerpoint/2010/main" val="7451749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3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D5C1D-5657-4B10-95F6-61461F3D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ข้อเสนอเพื่อพิจารณา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29425-135F-4E66-950F-CD945703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6C5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4C6C5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D9059-2DE3-47F9-ACF1-1AA44BA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เริ่ม A เพื่อเรียนรู้การใช้ห้องจริง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68228-21EC-4586-8F5D-A6ABD32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AD0C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9AD0C9"/>
                </a:solidFill>
                <a:latin typeface="Tahoma"/>
                <a:ea typeface="Tahoma"/>
                <a:cs typeface="Tahoma"/>
              </a:rPr>
              <a:t>ขยายเป็น B เมื่อจัดตารางให้ทุกคนได้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BDB90-C13C-4463-BB04-E4F04B5F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10668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เห็นชอบกติกาและการทดลอง 4 สัปดาห์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กำหนดผู้รับผิดชอบและผู้สำรอง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ตรวจระบบที่มีและประเมินค่าใช้จ่ายก่อนเริ่ม</a:t>
            </a:r>
          </a:p>
        </p:txBody>
      </p:sp>
    </p:spTree>
    <p:extLst>
      <p:ext uri="{BB962C8B-B14F-4D97-AF65-F5344CB8AC3E}">
        <p14:creationId xmlns:p14="http://schemas.microsoft.com/office/powerpoint/2010/main" val="15145856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73A23-869A-452F-ADD9-D6FD8B1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ภาคผนวก: ตัวเลขและสมมติฐาน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67791-42C6-4CA3-9D30-61AF2AB3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14800"/>
              </a:tblGrid>
              <a:tr h="7277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วิธีคิด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ผลลัพธ์</a:t>
                      </a:r>
                    </a:p>
                  </a:txBody>
                  <a:tcPr marL="91440" marR="91440" marT="45720" marB="45720">
                    <a:solidFill>
                      <a:srgbClr val="17343D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ความจุรวม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9 × 12 ×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540 ชม./สัปดาห์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แผน A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74 × (4 + 1)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370 ชม. เหลือ 170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แผน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74 × (5 + 1)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444 ชม. เหลือ 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เผื่อความจุ 10%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540 × 10% = 54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3D"/>
                          </a:solidFill>
                          <a:latin typeface="Tahoma"/>
                          <a:ea typeface="Tahoma"/>
                          <a:cs typeface="Tahoma"/>
                        </a:rPr>
                        <a:t>A เหลือ 116 / B เหลือ 42</a:t>
                      </a:r>
                    </a:p>
                  </a:txBody>
                  <a:tcPr marL="91440" marR="91440" marT="45720" marB="45720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018E7-7D22-47EE-BF82-FC09F4B4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43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43D"/>
                </a:solidFill>
                <a:latin typeface="Tahoma"/>
                <a:ea typeface="Tahoma"/>
                <a:cs typeface="Tahoma"/>
              </a:rPr>
              <a:t>สมมติสกิลรายบุคคล 1 ชม./คน/สัปดาห์ ใช้ห้องเดียวต่อคาบ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B83F0-3662-4B33-A5D7-2F0D002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7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86971"/>
                </a:solidFill>
                <a:latin typeface="Tahoma"/>
                <a:ea typeface="Tahoma"/>
                <a:cs typeface="Tahoma"/>
              </a:rPr>
              <a:t>จำนวน 74 คนจากไฟล์รายชื่อ ต้องยืนยันสถานะปัจจุบันก่อนเปิดสิทธิ์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835358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2026-09-10T16:57:00.6310000Z</dcterms:created>
  <dcterms:modified xsi:type="dcterms:W3CDTF">2026-09-10T16:57:00.6310000Z</dcterms:modified>
</coreProperties>
</file>